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65" r:id="rId19"/>
    <p:sldId id="266" r:id="rId20"/>
    <p:sldId id="269" r:id="rId21"/>
    <p:sldId id="270" r:id="rId22"/>
    <p:sldId id="271" r:id="rId23"/>
    <p:sldId id="272" r:id="rId24"/>
    <p:sldId id="273" r:id="rId25"/>
    <p:sldId id="267" r:id="rId26"/>
    <p:sldId id="268" r:id="rId27"/>
    <p:sldId id="274" r:id="rId28"/>
    <p:sldId id="275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7FE07-973E-4006-9E6C-D4D8D1603F63}" v="9" dt="2026-08-09T15:56:24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vya lakshmi" userId="b0a1c7a0a54aa28e" providerId="LiveId" clId="{127A1B23-075A-46BA-A418-1F9EDC6F3FF0}"/>
    <pc:docChg chg="undo custSel addSld delSld modSld">
      <pc:chgData name="Dhivya lakshmi" userId="b0a1c7a0a54aa28e" providerId="LiveId" clId="{127A1B23-075A-46BA-A418-1F9EDC6F3FF0}" dt="2026-08-09T15:56:24.435" v="64"/>
      <pc:docMkLst>
        <pc:docMk/>
      </pc:docMkLst>
      <pc:sldChg chg="addSp delSp modSp add del mod modTransition">
        <pc:chgData name="Dhivya lakshmi" userId="b0a1c7a0a54aa28e" providerId="LiveId" clId="{127A1B23-075A-46BA-A418-1F9EDC6F3FF0}" dt="2026-08-09T15:56:24.435" v="64"/>
        <pc:sldMkLst>
          <pc:docMk/>
          <pc:sldMk cId="0" sldId="256"/>
        </pc:sldMkLst>
        <pc:spChg chg="mod">
          <ac:chgData name="Dhivya lakshmi" userId="b0a1c7a0a54aa28e" providerId="LiveId" clId="{127A1B23-075A-46BA-A418-1F9EDC6F3FF0}" dt="2026-08-09T15:31:38.827" v="24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Dhivya lakshmi" userId="b0a1c7a0a54aa28e" providerId="LiveId" clId="{127A1B23-075A-46BA-A418-1F9EDC6F3FF0}" dt="2026-08-09T15:16:26.379" v="1" actId="478"/>
          <ac:spMkLst>
            <pc:docMk/>
            <pc:sldMk cId="0" sldId="256"/>
            <ac:spMk id="25" creationId="{00000000-0000-0000-0000-000000000000}"/>
          </ac:spMkLst>
        </pc:spChg>
        <pc:picChg chg="add del mod">
          <ac:chgData name="Dhivya lakshmi" userId="b0a1c7a0a54aa28e" providerId="LiveId" clId="{127A1B23-075A-46BA-A418-1F9EDC6F3FF0}" dt="2026-08-09T15:22:23.040" v="8" actId="478"/>
          <ac:picMkLst>
            <pc:docMk/>
            <pc:sldMk cId="0" sldId="256"/>
            <ac:picMk id="27" creationId="{7A1818F3-182F-A8E0-D818-C0CCBC100083}"/>
          </ac:picMkLst>
        </pc:picChg>
        <pc:picChg chg="add del mod">
          <ac:chgData name="Dhivya lakshmi" userId="b0a1c7a0a54aa28e" providerId="LiveId" clId="{127A1B23-075A-46BA-A418-1F9EDC6F3FF0}" dt="2026-08-09T15:28:17.045" v="17" actId="478"/>
          <ac:picMkLst>
            <pc:docMk/>
            <pc:sldMk cId="0" sldId="256"/>
            <ac:picMk id="29" creationId="{020725E1-9A93-3570-8A20-AFFF5E243FB1}"/>
          </ac:picMkLst>
        </pc:picChg>
        <pc:picChg chg="add del mod">
          <ac:chgData name="Dhivya lakshmi" userId="b0a1c7a0a54aa28e" providerId="LiveId" clId="{127A1B23-075A-46BA-A418-1F9EDC6F3FF0}" dt="2026-08-09T15:28:25.081" v="20" actId="478"/>
          <ac:picMkLst>
            <pc:docMk/>
            <pc:sldMk cId="0" sldId="256"/>
            <ac:picMk id="31" creationId="{5933BCC8-1527-CA10-74D5-B22E5FD5803F}"/>
          </ac:picMkLst>
        </pc:picChg>
        <pc:picChg chg="add mod">
          <ac:chgData name="Dhivya lakshmi" userId="b0a1c7a0a54aa28e" providerId="LiveId" clId="{127A1B23-075A-46BA-A418-1F9EDC6F3FF0}" dt="2026-08-09T15:31:58.406" v="28" actId="14100"/>
          <ac:picMkLst>
            <pc:docMk/>
            <pc:sldMk cId="0" sldId="256"/>
            <ac:picMk id="33" creationId="{7336EC2A-BACB-78CD-1E8E-D5FB70F6D3BD}"/>
          </ac:picMkLst>
        </pc:picChg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57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58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59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0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1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2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3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4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5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6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7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8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69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0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1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2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3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4"/>
        </pc:sldMkLst>
      </pc:sldChg>
      <pc:sldChg chg="addSp delSp modSp mod modTransition">
        <pc:chgData name="Dhivya lakshmi" userId="b0a1c7a0a54aa28e" providerId="LiveId" clId="{127A1B23-075A-46BA-A418-1F9EDC6F3FF0}" dt="2026-08-09T15:56:24.435" v="64"/>
        <pc:sldMkLst>
          <pc:docMk/>
          <pc:sldMk cId="0" sldId="275"/>
        </pc:sldMkLst>
        <pc:spChg chg="del mod">
          <ac:chgData name="Dhivya lakshmi" userId="b0a1c7a0a54aa28e" providerId="LiveId" clId="{127A1B23-075A-46BA-A418-1F9EDC6F3FF0}" dt="2026-08-09T15:17:10.082" v="3" actId="478"/>
          <ac:spMkLst>
            <pc:docMk/>
            <pc:sldMk cId="0" sldId="275"/>
            <ac:spMk id="11" creationId="{00000000-0000-0000-0000-000000000000}"/>
          </ac:spMkLst>
        </pc:spChg>
        <pc:picChg chg="add del mod">
          <ac:chgData name="Dhivya lakshmi" userId="b0a1c7a0a54aa28e" providerId="LiveId" clId="{127A1B23-075A-46BA-A418-1F9EDC6F3FF0}" dt="2026-08-09T15:33:20.643" v="33" actId="478"/>
          <ac:picMkLst>
            <pc:docMk/>
            <pc:sldMk cId="0" sldId="275"/>
            <ac:picMk id="13" creationId="{DC41C3B9-B7A9-FA0D-3006-31948C12A1DC}"/>
          </ac:picMkLst>
        </pc:picChg>
        <pc:picChg chg="add mod">
          <ac:chgData name="Dhivya lakshmi" userId="b0a1c7a0a54aa28e" providerId="LiveId" clId="{127A1B23-075A-46BA-A418-1F9EDC6F3FF0}" dt="2026-08-09T15:54:59.780" v="55" actId="14100"/>
          <ac:picMkLst>
            <pc:docMk/>
            <pc:sldMk cId="0" sldId="275"/>
            <ac:picMk id="15" creationId="{F6A89A20-3C8B-5DC8-1740-51354EE675F9}"/>
          </ac:picMkLst>
        </pc:picChg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6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7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8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79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80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81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82"/>
        </pc:sldMkLst>
      </pc:sldChg>
      <pc:sldChg chg="modTransition">
        <pc:chgData name="Dhivya lakshmi" userId="b0a1c7a0a54aa28e" providerId="LiveId" clId="{127A1B23-075A-46BA-A418-1F9EDC6F3FF0}" dt="2026-08-09T15:56:24.435" v="64"/>
        <pc:sldMkLst>
          <pc:docMk/>
          <pc:sldMk cId="0" sldId="28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E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2A-45BC-BB97-FA6545A243BC}"/>
              </c:ext>
            </c:extLst>
          </c:dPt>
          <c:dPt>
            <c:idx val="1"/>
            <c:bubble3D val="0"/>
            <c:spPr>
              <a:solidFill>
                <a:srgbClr val="0E9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2A-45BC-BB97-FA6545A243BC}"/>
              </c:ext>
            </c:extLst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2A-45BC-BB97-FA6545A243BC}"/>
              </c:ext>
            </c:extLst>
          </c:dPt>
          <c:dPt>
            <c:idx val="3"/>
            <c:bubble3D val="0"/>
            <c:spPr>
              <a:solidFill>
                <a:srgbClr val="8892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2A-45BC-BB97-FA6545A243BC}"/>
              </c:ext>
            </c:extLst>
          </c:dPt>
          <c:dPt>
            <c:idx val="4"/>
            <c:bubble3D val="0"/>
            <c:spPr>
              <a:solidFill>
                <a:srgbClr val="B7BE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2A-45BC-BB97-FA6545A243BC}"/>
              </c:ext>
            </c:extLst>
          </c:dPt>
          <c:dPt>
            <c:idx val="5"/>
            <c:bubble3D val="0"/>
            <c:spPr>
              <a:solidFill>
                <a:srgbClr val="D7DA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62A-45BC-BB97-FA6545A243BC}"/>
              </c:ext>
            </c:extLst>
          </c:dPt>
          <c:cat>
            <c:strRef>
              <c:f>Sheet1!$A$2:$A$7</c:f>
              <c:strCache>
                <c:ptCount val="6"/>
                <c:pt idx="0">
                  <c:v>Active</c:v>
                </c:pt>
                <c:pt idx="1">
                  <c:v>Fully Paid</c:v>
                </c:pt>
                <c:pt idx="2">
                  <c:v>Net-Off</c:v>
                </c:pt>
                <c:pt idx="3">
                  <c:v>Transferred</c:v>
                </c:pt>
                <c:pt idx="4">
                  <c:v>Paid Off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412.13</c:v>
                </c:pt>
                <c:pt idx="1">
                  <c:v>190.9</c:v>
                </c:pt>
                <c:pt idx="2">
                  <c:v>68.37</c:v>
                </c:pt>
                <c:pt idx="3">
                  <c:v>30.96</c:v>
                </c:pt>
                <c:pt idx="4">
                  <c:v>27.64</c:v>
                </c:pt>
                <c:pt idx="5">
                  <c:v>14.85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62A-45BC-BB97-FA6545A24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0E9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Mathura</c:v>
                </c:pt>
                <c:pt idx="1">
                  <c:v>Fatehgarh</c:v>
                </c:pt>
                <c:pt idx="2">
                  <c:v>Guwahati</c:v>
                </c:pt>
                <c:pt idx="3">
                  <c:v>Muzaffarpur</c:v>
                </c:pt>
                <c:pt idx="4">
                  <c:v>Samastipur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30.2</c:v>
                </c:pt>
                <c:pt idx="1">
                  <c:v>26.1</c:v>
                </c:pt>
                <c:pt idx="2">
                  <c:v>25.4</c:v>
                </c:pt>
                <c:pt idx="3">
                  <c:v>24.8</c:v>
                </c:pt>
                <c:pt idx="4">
                  <c:v>23.6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10-4A90-9389-BA887D998F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0B1E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Kotak Mahindra</c:v>
                </c:pt>
                <c:pt idx="1">
                  <c:v>Axis Bank</c:v>
                </c:pt>
                <c:pt idx="2">
                  <c:v>SBI</c:v>
                </c:pt>
                <c:pt idx="3">
                  <c:v>ICICI Bank</c:v>
                </c:pt>
                <c:pt idx="4">
                  <c:v>Punjab National</c:v>
                </c:pt>
                <c:pt idx="5">
                  <c:v>HDFC Bank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42.83</c:v>
                </c:pt>
                <c:pt idx="1">
                  <c:v>42.71</c:v>
                </c:pt>
                <c:pt idx="2">
                  <c:v>42.59</c:v>
                </c:pt>
                <c:pt idx="3">
                  <c:v>42.52</c:v>
                </c:pt>
                <c:pt idx="4">
                  <c:v>42.37</c:v>
                </c:pt>
                <c:pt idx="5">
                  <c:v>41.87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45-42CC-8602-970A1E8B47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1"/>
        </c:scaling>
        <c:delete val="0"/>
        <c:axPos val="b"/>
        <c:majorGridlines>
          <c:spPr>
            <a:ln w="9525" cap="flat">
              <a:solidFill>
                <a:srgbClr val="E4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0E9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Total Credit</c:v>
                </c:pt>
                <c:pt idx="1">
                  <c:v>Total Debit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127.6</c:v>
                </c:pt>
                <c:pt idx="1">
                  <c:v>127.29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8-49B1-A7AB-694EE994FB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E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79-4994-9C28-721FE3596898}"/>
              </c:ext>
            </c:extLst>
          </c:dPt>
          <c:dPt>
            <c:idx val="1"/>
            <c:bubble3D val="0"/>
            <c:spPr>
              <a:solidFill>
                <a:srgbClr val="0E9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79-4994-9C28-721FE3596898}"/>
              </c:ext>
            </c:extLst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79-4994-9C28-721FE3596898}"/>
              </c:ext>
            </c:extLst>
          </c:dPt>
          <c:cat>
            <c:strRef>
              <c:f>Sheet1!$A$2:$A$4</c:f>
              <c:strCache>
                <c:ptCount val="3"/>
                <c:pt idx="0">
                  <c:v>Bank Transfer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33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F79-4994-9C28-721FE3596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119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ank_analytics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02920"/>
            <a:ext cx="4160520" cy="5715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479792" y="320040"/>
            <a:ext cx="4480560" cy="5989320"/>
          </a:xfrm>
          <a:prstGeom prst="rect">
            <a:avLst/>
          </a:prstGeom>
          <a:solidFill>
            <a:srgbClr val="08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8778240" y="-2743200"/>
            <a:ext cx="7315200" cy="7315200"/>
          </a:xfrm>
          <a:prstGeom prst="ellipse">
            <a:avLst/>
          </a:prstGeom>
          <a:solidFill>
            <a:srgbClr val="0714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66960" y="-548640"/>
            <a:ext cx="3840480" cy="384048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377440" y="4846320"/>
            <a:ext cx="4937760" cy="4937760"/>
          </a:xfrm>
          <a:prstGeom prst="ellipse">
            <a:avLst/>
          </a:prstGeom>
          <a:solidFill>
            <a:srgbClr val="0714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12700">
            <a:solidFill>
              <a:srgbClr val="0E9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E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9875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Loan Analytics &amp;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Credit–Debit Transaction Intelligence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banking data into decision-ready dashboards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9525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74520" y="4526280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9525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74520" y="4526280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0" y="45262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9525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0" y="4526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79392" y="4526280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13294F"/>
          </a:solidFill>
          <a:ln w="9525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79392" y="452628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349240"/>
            <a:ext cx="29260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9808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Presented by: Group –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&amp; Transaction Analytics Dashboard Project  |  August 2026</a:t>
            </a:r>
            <a:endParaRPr lang="en-US" sz="1200" dirty="0"/>
          </a:p>
        </p:txBody>
      </p:sp>
      <p:sp>
        <p:nvSpPr>
          <p:cNvPr id="20" name="Rounded Rectangle 19"/>
          <p:cNvSpPr/>
          <p:nvPr/>
        </p:nvSpPr>
        <p:spPr>
          <a:xfrm>
            <a:off x="6903720" y="4526280"/>
            <a:ext cx="3794760" cy="1325880"/>
          </a:xfrm>
          <a:prstGeom prst="roundRect">
            <a:avLst>
              <a:gd name="adj" fmla="val 8000"/>
            </a:avLst>
          </a:prstGeom>
          <a:solidFill>
            <a:srgbClr val="0A1B37"/>
          </a:solidFill>
          <a:ln>
            <a:solidFill>
              <a:srgbClr val="0A1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0608" y="468172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PROJECT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4919472"/>
            <a:ext cx="320040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Aishwarya V
Dhivyalakshmi K A
Shreyash Sanjay Shende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336EC2A-BACB-78CD-1E8E-D5FB70F6D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THE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623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generate enormous volumes of data every day — from loan disbursements and repayments to millions of individual credit and debit transactions. Making sense of this data is essential for sound lending decisions, fraud prevention, and long-term customer strategy.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5623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brings together two connected datasets — a bank loan portfolio and a nationwide credit/debit transaction ledger — and turns them into a single, decision-ready analytics story using Excel, MySQL, Power BI and Tableau.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03720" y="1828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239572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0372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25512" y="2359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25512" y="26151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transactions and tens of thousands of loans across states and branches.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331012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25512" y="32735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25512" y="35295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visibility into defaults, delinquency and high-risk transaction behaviour.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422452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03720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25512" y="41879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25512" y="44439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replace manual spreadsheet reporting with instant, filterable insight.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513892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03720" y="5138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25512" y="5102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25512" y="53583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to guide lending, collections and fraud policy.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Analyzes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Loan Portfolio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loan disbursements, collections, interest recovery, and default risk across states, branches and loan purposes.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Ecosystem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and debit transaction flows tracked across multiple banks, branches and transaction methods nationwide.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58200" y="1874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58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Behavior Patterns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high-risk transactions, delinquent loans, and account activity patterns for early warning.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86460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raw banking data into dashboards that support lending decisions, fraud monitoring, and customer strategy.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guiding the analytics workflow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Modelling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 loan and transaction data, fix nulls, standardize formats, and build fact-dimension relationships.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2011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Performance Analysis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disbursements, collections, interest recovery, and default/delinquency trends across regions.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68680" y="42976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Risk Monitoring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credit/debit volumes by bank and branch, and flag high-risk transaction behavior.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83680" y="42976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425196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8368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dynamic Excel, Power BI and Tableau dashboards with KPI tiles, slicers and drill-downs.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 stack for this project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88336" cy="4206240"/>
          </a:xfrm>
          <a:prstGeom prst="roundRect">
            <a:avLst>
              <a:gd name="adj" fmla="val 2721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04672" y="1938528"/>
            <a:ext cx="384048" cy="384048"/>
          </a:xfrm>
          <a:prstGeom prst="rect">
            <a:avLst/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Excel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4672" y="314553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552" y="3063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" y="376732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7552" y="36850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438912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7552" y="4306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/ IF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501091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7552" y="4928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KPI cards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01568" y="1737360"/>
            <a:ext cx="2688336" cy="420624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0" y="1938528"/>
            <a:ext cx="384048" cy="384048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0" y="2423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657600" y="314553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0" y="3063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376732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0" y="36850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across tables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0" y="438912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0" y="4306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aggregation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0" y="501091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0" y="4928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54496" y="1737360"/>
            <a:ext cx="2688336" cy="4206240"/>
          </a:xfrm>
          <a:prstGeom prst="roundRect">
            <a:avLst>
              <a:gd name="adj" fmla="val 2721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510528" y="1938528"/>
            <a:ext cx="384048" cy="384048"/>
          </a:xfrm>
          <a:prstGeom prst="rect">
            <a:avLst/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10528" y="2423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510528" y="314553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93408" y="3063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10528" y="376732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93408" y="36850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&amp; bar charts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10528" y="438912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693408" y="4306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by region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10528" y="501091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693408" y="4928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07424" y="1737360"/>
            <a:ext cx="2688336" cy="420624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363456" y="1938528"/>
            <a:ext cx="384048" cy="384048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363456" y="24231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9363456" y="314553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546336" y="3063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363456" y="376732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546336" y="36850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363456" y="438912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546336" y="43068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363456" y="501091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546336" y="49286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parameters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data to business insight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&amp; transaction worksheets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3337560"/>
            <a:ext cx="188915" cy="0"/>
          </a:xfrm>
          <a:prstGeom prst="line">
            <a:avLst/>
          </a:prstGeom>
          <a:noFill/>
          <a:ln w="19050">
            <a:solidFill>
              <a:srgbClr val="B7BEC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29195" y="246888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0B7A70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6355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6355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Cleaning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66355" y="3566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errors, standardize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20835" y="3337560"/>
            <a:ext cx="188915" cy="0"/>
          </a:xfrm>
          <a:prstGeom prst="line">
            <a:avLst/>
          </a:prstGeom>
          <a:noFill/>
          <a:ln w="19050">
            <a:solidFill>
              <a:srgbClr val="B7BEC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09750" y="246888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46910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46910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46910" y="3566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tables, run joins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01390" y="3337560"/>
            <a:ext cx="188915" cy="0"/>
          </a:xfrm>
          <a:prstGeom prst="line">
            <a:avLst/>
          </a:prstGeom>
          <a:noFill/>
          <a:ln w="19050">
            <a:solidFill>
              <a:srgbClr val="B7BEC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90305" y="246888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0B7A70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27465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27465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27465" y="3566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 &amp; maps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81945" y="3337560"/>
            <a:ext cx="188915" cy="0"/>
          </a:xfrm>
          <a:prstGeom prst="line">
            <a:avLst/>
          </a:prstGeom>
          <a:noFill/>
          <a:ln w="19050">
            <a:solidFill>
              <a:srgbClr val="B7BEC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70860" y="246888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08020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08020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08020" y="3566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tiles, DAX &amp; slicers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762500" y="3337560"/>
            <a:ext cx="188915" cy="0"/>
          </a:xfrm>
          <a:prstGeom prst="line">
            <a:avLst/>
          </a:prstGeom>
          <a:noFill/>
          <a:ln w="19050">
            <a:solidFill>
              <a:srgbClr val="B7BEC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951415" y="246888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C9A227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088575" y="2578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88575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088575" y="3566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7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decisions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096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48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40080"/>
            <a:ext cx="109728" cy="516636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6583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13294F"/>
                </a:solidFill>
                <a:latin typeface="Georgia"/>
              </a:rPr>
              <a:t>From business questions
to measurable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16352"/>
            <a:ext cx="6217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E6C7E"/>
                </a:solidFill>
                <a:latin typeface="Aptos"/>
              </a:rPr>
              <a:t>MySQL queries used to validate the dashboard KPIs,
segment transaction behaviour, and quantify loan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60520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13294F"/>
          </a:solidFill>
          <a:ln>
            <a:solidFill>
              <a:srgbClr val="132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37083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2072" y="437083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5E6C7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4160520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39" y="437083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SQL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1" y="437083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5E6C7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4160520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437083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7142B"/>
                </a:solidFill>
                <a:latin typeface="Apto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437083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5E6C7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4160520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13294F"/>
          </a:solidFill>
          <a:ln>
            <a:solidFill>
              <a:srgbClr val="132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437083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Business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0058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E6C7E"/>
                </a:solidFill>
                <a:latin typeface="Aptos"/>
              </a:rPr>
              <a:t>Evidence from the project SQL workbench</a:t>
            </a:r>
          </a:p>
        </p:txBody>
      </p:sp>
      <p:pic>
        <p:nvPicPr>
          <p:cNvPr id="18" name="Picture 17" descr="tx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53312"/>
            <a:ext cx="4160520" cy="2423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9834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3294F"/>
                </a:solidFill>
                <a:latin typeface="Aptos"/>
              </a:rPr>
              <a:t>Transaction KPI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53035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Credit • Debit • Ratio • Activity •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3294F"/>
                </a:solidFill>
                <a:latin typeface="Georgia"/>
              </a:rPr>
              <a:t>Transaction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438912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E6C7E"/>
                </a:solidFill>
                <a:latin typeface="Aptos"/>
              </a:rPr>
              <a:t>Core measures used in the debit &amp; credit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9224" y="1609344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61391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910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Total Credit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6537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Sum of transaction amounts where type = Credit.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32888"/>
            <a:ext cx="4892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9">
                <a:solidFill>
                  <a:srgbClr val="EBF0F4"/>
                </a:solidFill>
                <a:latin typeface="Consolas"/>
              </a:rPr>
              <a:t>SELECT SUM(amount) AS total_credit_amount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9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9">
                <a:solidFill>
                  <a:srgbClr val="EBF0F4"/>
                </a:solidFill>
                <a:latin typeface="Consolas"/>
              </a:rPr>
              <a:t>WHERE transaction_type = 'Credit';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1" y="2971800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81" y="2971800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1" y="3026664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1" y="3172968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3294F"/>
                </a:solidFill>
                <a:latin typeface="Georgia"/>
              </a:rPr>
              <a:t>127.60M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81328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91072" y="1609344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61391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15910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Total Debit Amount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186537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Sum of transaction amounts where type = Debit.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224028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313432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532888"/>
            <a:ext cx="4892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9">
                <a:solidFill>
                  <a:srgbClr val="EBF0F4"/>
                </a:solidFill>
                <a:latin typeface="Consolas"/>
              </a:rPr>
              <a:t>SELECT SUM(amount) AS total_debit_amount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9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9">
                <a:solidFill>
                  <a:srgbClr val="EBF0F4"/>
                </a:solidFill>
                <a:latin typeface="Consolas"/>
              </a:rPr>
              <a:t>WHERE transaction_type = 'Debit';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9" y="2971800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0929" y="2971800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9" y="3026664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9" y="3172968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3294F"/>
                </a:solidFill>
                <a:latin typeface="Georgia"/>
              </a:rPr>
              <a:t>127.29M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30752"/>
            <a:ext cx="1108252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4" y="3858768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" y="3863340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840480"/>
            <a:ext cx="10305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Credit-to-Debit Ratio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114800"/>
            <a:ext cx="10762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Compares total credit value with total debit value.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89704"/>
            <a:ext cx="10808208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562856"/>
            <a:ext cx="10533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782312"/>
            <a:ext cx="105338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  SUM(CASE WHEN transaction_type='Credit' THEN amount ELSE 0 END)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  SUM(CASE WHEN transaction_type='Debit' THEN amount ELSE 0 END)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  AS credit_to_debit_ratio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FROM transactions;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0929" y="5221224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10929" y="5221224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48089" y="5276088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089" y="542239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3294F"/>
                </a:solidFill>
                <a:latin typeface="Georgia"/>
              </a:rPr>
              <a:t>1.0025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3294F"/>
                </a:solidFill>
                <a:latin typeface="Georgia"/>
              </a:rPr>
              <a:t>Transaction behaviour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438912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E6C7E"/>
                </a:solidFill>
                <a:latin typeface="Aptos"/>
              </a:rPr>
              <a:t>Net movement, account activity and transaction frequency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9224" y="1609344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61391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910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Net Transaction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6537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Credits are positive; debits are subtracted.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32888"/>
            <a:ext cx="4892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SELECT SUM(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  CASE WHEN transaction_type='Credit' THEN 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       ELSE -amount END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) AS net_transaction_amount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FROM transactions;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1" y="2971800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81" y="2971800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1" y="3026664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1" y="3172968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3294F"/>
                </a:solidFill>
                <a:latin typeface="Georgia"/>
              </a:rPr>
              <a:t>0.32M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81328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91072" y="1609344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61391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15910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Account Activity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186537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Transaction count divided by average balance.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224028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313432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532888"/>
            <a:ext cx="4892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30">
                <a:solidFill>
                  <a:srgbClr val="EBF0F4"/>
                </a:solidFill>
                <a:latin typeface="Consolas"/>
              </a:rPr>
              <a:t>SELECT COUNT(*) / AVG(balance) AS account_activity_ratio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30">
                <a:solidFill>
                  <a:srgbClr val="EBF0F4"/>
                </a:solidFill>
                <a:latin typeface="Consolas"/>
              </a:rPr>
              <a:t>FROM transactions;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9" y="2971800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0929" y="2971800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9" y="3026664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9" y="3172968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3294F"/>
                </a:solidFill>
                <a:latin typeface="Georgia"/>
              </a:rPr>
              <a:t>19.01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30752"/>
            <a:ext cx="1108252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4" y="3858768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" y="3863340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840480"/>
            <a:ext cx="10305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Transactions by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114800"/>
            <a:ext cx="10762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Groups transaction records by month and counts rows.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89704"/>
            <a:ext cx="10808208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562856"/>
            <a:ext cx="10533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782312"/>
            <a:ext cx="105338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SELECT MONTH(transaction_date) AS txn_month,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       COUNT(*) AS transaction_count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GROUP BY MONTH(transaction_date)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EBF0F4"/>
                </a:solidFill>
                <a:latin typeface="Consolas"/>
              </a:rPr>
              <a:t>ORDER BY txn_month;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0929" y="5221224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10929" y="5221224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48089" y="5276088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089" y="542239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3294F"/>
                </a:solidFill>
                <a:latin typeface="Georgia"/>
              </a:rPr>
              <a:t>Monthly counts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3294F"/>
                </a:solidFill>
                <a:latin typeface="Georgia"/>
              </a:rPr>
              <a:t>Branch, bank &amp; method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438912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E6C7E"/>
                </a:solidFill>
                <a:latin typeface="Aptos"/>
              </a:rPr>
              <a:t>Breaking transaction value and usage into operational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9224" y="1609344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61391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910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Total Transaction Amount by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6537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Ranks branches by total transaction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32888"/>
            <a:ext cx="4892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SELECT branch, SUM(amount) AS total_amount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GROUP BY branch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ORDER BY total_amount DESC;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1" y="2971800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81" y="2971800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1" y="3026664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1" y="3172968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3294F"/>
                </a:solidFill>
                <a:latin typeface="Georgia"/>
              </a:rPr>
              <a:t>Branch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81328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91072" y="1609344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613916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159105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Transaction Volume by 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186537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Ranks banks by total transaction amount.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2240280"/>
            <a:ext cx="5166360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313432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532888"/>
            <a:ext cx="4892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SELECT bank_name, SUM(amount) AS total_volume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GROUP BY bank_name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EBF0F4"/>
                </a:solidFill>
                <a:latin typeface="Consolas"/>
              </a:rPr>
              <a:t>ORDER BY total_volume DESC;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9" y="2971800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0929" y="2971800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9" y="3026664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9" y="3172968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3294F"/>
                </a:solidFill>
                <a:latin typeface="Georgia"/>
              </a:rPr>
              <a:t>42.83M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30752"/>
            <a:ext cx="1108252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4" y="3858768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" y="3863340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840480"/>
            <a:ext cx="10305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Transaction Method Distribution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114800"/>
            <a:ext cx="10762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Counts methods and calculates each method’s share.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89704"/>
            <a:ext cx="10808208" cy="10972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562856"/>
            <a:ext cx="10533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782312"/>
            <a:ext cx="105338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SELECT transaction_method,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       COUNT(*) AS transaction_count,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       COUNT(*) * 100.0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       (SELECT COUNT(*) FROM transactions) AS percentage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GROUP BY transaction_method;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0929" y="5221224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10929" y="5221224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48089" y="5276088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089" y="542239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3294F"/>
                </a:solidFill>
                <a:latin typeface="Georgia"/>
              </a:rPr>
              <a:t>≈ 1/3 each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3294F"/>
                </a:solidFill>
                <a:latin typeface="Georgia"/>
              </a:rPr>
              <a:t>Branch transaction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438912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E6C7E"/>
                </a:solidFill>
                <a:latin typeface="Aptos"/>
              </a:rPr>
              <a:t>Comparing first-half and second-half transaction value by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Q10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26464"/>
            <a:ext cx="640080" cy="384048"/>
          </a:xfrm>
          <a:prstGeom prst="roundRect">
            <a:avLst>
              <a:gd name="adj" fmla="val 8000"/>
            </a:avLst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Q10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7635240" cy="324612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1"/>
            <a:ext cx="7360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67127"/>
            <a:ext cx="736092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SELECT branch,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SUM(CASE WHEN MONTH(transaction_date)&lt;=6 THEN amount ELSE 0 END) AS h1_amount,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SUM(CASE WHEN MONTH(transaction_date)&gt;=7 THEN amount ELSE 0 END) AS h2_amount,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ROUND((SUM(CASE WHEN MONTH(transaction_date)&gt;=7 THEN amount ELSE 0 END)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 - SUM(CASE WHEN MONTH(transaction_date)&lt;=6 THEN amount ELSE 0 END))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 / SUM(CASE WHEN MONTH(transaction_date)&lt;=6 THEN amount ELSE 0 END) * 100, 2) AS growth_percent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19">
                <a:solidFill>
                  <a:srgbClr val="EBF0F4"/>
                </a:solidFill>
                <a:latin typeface="Consolas"/>
              </a:rPr>
              <a:t>GROUP BY branch;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74519"/>
            <a:ext cx="3108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13648" y="205740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WHAT IT CALCULATES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37744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94F"/>
                </a:solidFill>
                <a:latin typeface="Georgia"/>
              </a:rPr>
              <a:t>Branch-level H1 amount, H2 amount and growth 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42900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36210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7142B"/>
                </a:solidFill>
                <a:latin typeface="Aptos"/>
              </a:rPr>
              <a:t>Growth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391363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7142B"/>
                </a:solidFill>
                <a:latin typeface="Georgia"/>
              </a:rPr>
              <a:t>(H2 − H1) / H1 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406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C7E"/>
                </a:solidFill>
                <a:latin typeface="Aptos"/>
              </a:rPr>
              <a:t>The query returns one row per branch, making it suitable for branch comparison and trend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978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E6C7E"/>
                </a:solidFill>
                <a:latin typeface="Aptos"/>
              </a:rPr>
              <a:t>No single numeric output is shown in the supplied screenshot; the query defines the calculation.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3294F"/>
                </a:solidFill>
                <a:latin typeface="Georgia"/>
              </a:rPr>
              <a:t>Risk monitoring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438912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E6C7E"/>
                </a:solidFill>
                <a:latin typeface="Aptos"/>
              </a:rPr>
              <a:t>Large-value transaction flags and monthly suspicious-frequency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9224" y="1682496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687068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6420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High-Risk Transaction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Uses the project threshold rule to classify unusually large transactions.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13432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86584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EBF0F4"/>
                </a:solidFill>
                <a:latin typeface="Consolas"/>
              </a:rPr>
              <a:t>SELECT CASE WHEN amount &gt; 4762 THEN 'High Risk' ELSE 'Normal' END AS risk_flag,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EBF0F4"/>
                </a:solidFill>
                <a:latin typeface="Consolas"/>
              </a:rPr>
              <a:t>       COUNT(*) AS 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EBF0F4"/>
                </a:solidFill>
                <a:latin typeface="Consolas"/>
              </a:rPr>
              <a:t>GROUP BY CASE WHEN amount &gt; 4762 THEN 'High Risk' ELSE 'Normal' END;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1" y="3319272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81" y="3319272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1" y="3374136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1" y="3520440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3294F"/>
                </a:solidFill>
                <a:latin typeface="Georgia"/>
              </a:rPr>
              <a:t>&gt; 4,762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55448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91072" y="1682496"/>
            <a:ext cx="347472" cy="347472"/>
          </a:xfrm>
          <a:prstGeom prst="ellipse">
            <a:avLst/>
          </a:prstGeom>
          <a:solidFill>
            <a:srgbClr val="0B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687068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166420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3294F"/>
                </a:solidFill>
                <a:latin typeface="Aptos"/>
              </a:rPr>
              <a:t>Suspicious Transaction Frequency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19385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E6C7E"/>
                </a:solidFill>
                <a:latin typeface="Aptos"/>
              </a:rPr>
              <a:t>Counts flagged transactions by month for frequency monitoring.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2313432"/>
            <a:ext cx="5166360" cy="137160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386584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60604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SELECT MONTH(transaction_date) AS txn_month,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       COUNT(*) AS flagged_count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FROM 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WHERE amount &gt; 4762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GROUP BY MONTH(transaction_date)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BF0F4"/>
                </a:solidFill>
                <a:latin typeface="Consolas"/>
              </a:rPr>
              <a:t>ORDER BY txn_month;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9" y="3319272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0929" y="3319272"/>
            <a:ext cx="54864" cy="457200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9" y="3374136"/>
            <a:ext cx="139903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5E6C7E"/>
                </a:solidFill>
                <a:latin typeface="Aptos"/>
              </a:rPr>
              <a:t>KEY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9" y="3520440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3294F"/>
                </a:solidFill>
                <a:latin typeface="Georgia"/>
              </a:rPr>
              <a:t>Monthly flagged count</a:t>
            </a:r>
          </a:p>
        </p:txBody>
      </p:sp>
      <p:pic>
        <p:nvPicPr>
          <p:cNvPr id="31" name="Picture 30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224528"/>
            <a:ext cx="6355080" cy="1508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43200" y="5797296"/>
            <a:ext cx="6355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E6C7E"/>
                </a:solidFill>
                <a:latin typeface="Aptos"/>
              </a:rPr>
              <a:t>MySQL Workbench evidence supplied with the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3294F"/>
                </a:solidFill>
                <a:latin typeface="Georgia"/>
              </a:rPr>
              <a:t>Loan portfolio SQL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438912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E6C7E"/>
                </a:solidFill>
                <a:latin typeface="Aptos"/>
              </a:rPr>
              <a:t>Selected loan queries with the outputs visible in the supplied MySQL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6517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078992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LOANS FUNDED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9222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732.70M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Total_Loan_Amount_Funded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481328"/>
            <a:ext cx="26517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55848" y="1481328"/>
            <a:ext cx="64008" cy="1078992"/>
          </a:xfrm>
          <a:prstGeom prst="rect">
            <a:avLst/>
          </a:prstGeom>
          <a:solidFill>
            <a:srgbClr val="13294F"/>
          </a:solidFill>
          <a:ln>
            <a:solidFill>
              <a:srgbClr val="132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57276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TOTAL LOANS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79222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65,535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21284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COUNT(Account_ID)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481328"/>
            <a:ext cx="26517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1481328"/>
            <a:ext cx="64008" cy="1078992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57276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TOTAL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79222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814.90M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21284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SUM(Total_Pymnt)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481328"/>
            <a:ext cx="26517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61704" y="1481328"/>
            <a:ext cx="64008" cy="1078992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4584" y="157276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TOTAL INTEREST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179222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155.29M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21284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SUM(Total_Rrec_int)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788920"/>
            <a:ext cx="6400800" cy="269748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2862072"/>
            <a:ext cx="6126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SELECTED LOAN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81528"/>
            <a:ext cx="612648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-- Total Loans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SELECT COUNT(Account_ID) AS Total_Loans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FROM loan_fact_table;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840">
              <a:solidFill>
                <a:srgbClr val="EBF0F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-- Total Collection (in Millions)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SELECT CONCAT(ROUND(SUM(Total_Pymnt)/1000000,2),' M')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AS Total_Collection FROM loan_fact_table;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840">
              <a:solidFill>
                <a:srgbClr val="EBF0F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-- Total Interest (in Millions)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SELECT CONCAT(ROUND(SUM(Total_Rrec_int)/1000000,2),' M')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0">
                <a:solidFill>
                  <a:srgbClr val="EBF0F4"/>
                </a:solidFill>
                <a:latin typeface="Consolas"/>
              </a:rPr>
              <a:t>AS Total_Interest FROM loan_fact_table;</a:t>
            </a:r>
          </a:p>
        </p:txBody>
      </p:sp>
      <p:pic>
        <p:nvPicPr>
          <p:cNvPr id="30" name="Picture 29" descr="lo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2788920"/>
            <a:ext cx="4434840" cy="23957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32320" y="53035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E6C7E"/>
                </a:solidFill>
                <a:latin typeface="Aptos"/>
              </a:rPr>
              <a:t>The displayed outputs are taken from the supplied MySQL result grids.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Aptos"/>
              </a:rP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9784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3294F"/>
                </a:solidFill>
                <a:latin typeface="Georgia"/>
              </a:rPr>
              <a:t>Loan risk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438912" cy="411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E6C7E"/>
                </a:solidFill>
                <a:latin typeface="Aptos"/>
              </a:rPr>
              <a:t>Default and delinquency queries used to quantify portfolio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5E6C7E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078992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DEFAULT LOAN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9222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1,020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WHERE Is_Default_Loan = 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10128" y="1481328"/>
            <a:ext cx="64008" cy="1078992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157276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DELINQUENT CLIENT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79222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7,106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2128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COUNT(DISTINCT Client_ID)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1481328"/>
            <a:ext cx="64008" cy="1078992"/>
          </a:xfrm>
          <a:prstGeom prst="rect">
            <a:avLst/>
          </a:prstGeom>
          <a:solidFill>
            <a:srgbClr val="0B7A70"/>
          </a:solidFill>
          <a:ln>
            <a:solidFill>
              <a:srgbClr val="0B7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0216" y="157276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DELINQUENT LOAN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10.84%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2128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share of delinquent loans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481328"/>
            <a:ext cx="260604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24544" y="1481328"/>
            <a:ext cx="64008" cy="1078992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07424" y="157276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E6C7E"/>
                </a:solidFill>
                <a:latin typeface="Aptos"/>
              </a:rPr>
              <a:t>DEFAULT LOAN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179222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3294F"/>
                </a:solidFill>
                <a:latin typeface="Georgia"/>
              </a:rPr>
              <a:t>1.56%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2128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C7E"/>
                </a:solidFill>
                <a:latin typeface="Aptos"/>
              </a:rPr>
              <a:t>share of default loans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788920"/>
            <a:ext cx="6537960" cy="2743200"/>
          </a:xfrm>
          <a:prstGeom prst="roundRect">
            <a:avLst>
              <a:gd name="adj" fmla="val 8000"/>
            </a:avLst>
          </a:prstGeom>
          <a:solidFill>
            <a:srgbClr val="191F28"/>
          </a:solidFill>
          <a:ln>
            <a:solidFill>
              <a:srgbClr val="19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2862072"/>
            <a:ext cx="6263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Aptos"/>
              </a:rPr>
              <a:t>RISK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81528"/>
            <a:ext cx="6263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-- Default Loan 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SELECT COUNT(*) AS Default_Loan_Count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FROM loan_fact_table WHERE Is_Default_Loan = 'Y';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780">
              <a:solidFill>
                <a:srgbClr val="EBF0F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-- Delinquent Client 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SELECT COUNT(DISTINCT Client_ID) AS Delinquent_Client_Count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FROM loan_fact_table WHERE Is_Delinquent = 'Y';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780">
              <a:solidFill>
                <a:srgbClr val="EBF0F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-- Delinquent Loan Rate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SELECT ROUND(100.0 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  SUM(CASE WHEN Is_Delinquent='Y' THEN 1 ELSE 0 END) / COUNT(*), 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AS Rate_Pct FROM loan_fact_table;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780">
              <a:solidFill>
                <a:srgbClr val="EBF0F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-- Default Loan Rate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SELECT ROUND(100.0 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  SUM(CASE WHEN Is_Default_Loan='Y' THEN 1 ELSE 0 END) / COUNT(*), 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>
                <a:solidFill>
                  <a:srgbClr val="EBF0F4"/>
                </a:solidFill>
                <a:latin typeface="Consolas"/>
              </a:rPr>
              <a:t>AS Rate_Pct FROM loan_fact_table;</a:t>
            </a:r>
          </a:p>
        </p:txBody>
      </p:sp>
      <p:pic>
        <p:nvPicPr>
          <p:cNvPr id="30" name="Picture 29" descr="loan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2788920"/>
            <a:ext cx="4251960" cy="23591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69480" y="532180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E6C7E"/>
                </a:solidFill>
                <a:latin typeface="Aptos"/>
              </a:rPr>
              <a:t>These values are the visible outputs from the supplied SQL screenshots.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DATA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Portfolio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rebuilt as native charts for at-a-glance reading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733M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Funded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47872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547872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4224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814.90M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364224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Collection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97696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80576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155.29M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80576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Mix (₹M)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3063240"/>
          <a:ext cx="50292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852160" y="2788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Branch-Wise Total Revenue (₹M, top 5)</a:t>
            </a:r>
            <a:endParaRPr lang="en-US" sz="12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5669280" y="3063240"/>
          <a:ext cx="59436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8"/>
          <p:cNvSpPr/>
          <p:nvPr/>
        </p:nvSpPr>
        <p:spPr>
          <a:xfrm>
            <a:off x="5669280" y="61996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ranking based on the branch revenue chart in the source dashboard.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DATA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Intelligence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Credit, debit and bank-level activity rebuilt as native charts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127.60M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47872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127.29M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547872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4224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1.0025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364224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Credit/Debit Ratio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97696" y="16916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80576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19.01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80576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 Ratio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by Bank (₹M)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30632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vs Debit (₹M)</a:t>
            </a:r>
            <a:endParaRPr lang="en-US" sz="12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6309360" y="3063240"/>
          <a:ext cx="53035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Method Split</a:t>
            </a:r>
            <a:endParaRPr lang="en-US" sz="1200" dirty="0"/>
          </a:p>
        </p:txBody>
      </p:sp>
      <p:graphicFrame>
        <p:nvGraphicFramePr>
          <p:cNvPr id="23" name="Chart 2"/>
          <p:cNvGraphicFramePr/>
          <p:nvPr/>
        </p:nvGraphicFramePr>
        <p:xfrm>
          <a:off x="6309360" y="5029200"/>
          <a:ext cx="53035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Loan Data Revealed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composition, regional concentration and risk signals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 Pradesh Leads Lending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loans exceeding ₹138M, Uttar Pradesh is the top-performing state, followed by Punjab and Bihar.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011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Loans Dominate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Loans make up over 55% of the total loan status mix, with Fully Paid and Net-Off loans forming the remainder.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68680" y="429768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Loans Drive Volume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 is the leading purpose category by disbursed amount, well ahead of Business and Services loans.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83680" y="429768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4251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Risk Is Contained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and delinquent loans represent a small single-digit share of the book, indicating healthy overall credit quality.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Transaction Data Revealed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branch and method-level patterns in credit &amp; debit activity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&amp; Debit Nearly Balanced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(127.60M) and debit (127.29M) volumes are almost equal, giving a credit-to-debit ratio close to 1.0.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011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Kotak Mahindra Bank Leads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Mahindra Bank tops transaction volume at 42.83M, closely followed by Axis Bank and State Bank of India.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68680" y="429768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Spread Across Methods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Transfer, Credit Card and Debit Card each account for roughly a third of transaction method usage.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4023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83680" y="429768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4251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High-Risk Activity Flagged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high-risk transaction segment (~20K) is isolated from normal activity, enabling focused fraud monitoring.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derived from data insights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95224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9522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High-Priority States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74520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lending capacity and staff in Uttar Pradesh, Punjab and Bihar where loan demand is highest.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29306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9306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852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Risk Flagging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529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high-risk transaction model to trigger real-time alerts for suspicious activity.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9090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909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83133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Home Loan Cross-Sell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831336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insurance and related products with Home Loans, the largest purpose category by volume.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7183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7240" y="488746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9C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48874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48097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Channel 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4809744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even Bank Transfer / Credit / Debit split to plan capacity across payment infrastructure.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77240" y="586587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58658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57881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Collections Focus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5788152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collections effort on the small pool of default/delinquent accounts to protect asset quality.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How We Overcame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encountered and the approach taken to resolve each one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434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Hard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01000" y="1737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Overcame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229514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Complexity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229514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formats, duplicate records and null values.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1000" y="229514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formats and de-duplicated records in Excel before loading.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11064240" cy="713232"/>
          </a:xfrm>
          <a:prstGeom prst="rect">
            <a:avLst/>
          </a:prstGeom>
          <a:solidFill>
            <a:srgbClr val="EEF1F7"/>
          </a:solidFill>
          <a:ln w="9525">
            <a:solidFill>
              <a:srgbClr val="E4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300837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Modelling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300837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Fact-Dimension relationships needed in Power BI.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000" y="300837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key mapping and validation between loan and transaction tables.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66744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372160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SQL Joins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372160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across loan and transaction tables.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01000" y="372160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query refinement and testing in MySQL Workbench.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379976"/>
            <a:ext cx="11064240" cy="713232"/>
          </a:xfrm>
          <a:prstGeom prst="rect">
            <a:avLst/>
          </a:prstGeom>
          <a:solidFill>
            <a:srgbClr val="EEF1F7"/>
          </a:solidFill>
          <a:ln w="9525">
            <a:solidFill>
              <a:srgbClr val="E4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" y="44348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44348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non-cluttered layouts across Tableau and Power BI.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000" y="44348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 consistent color system and simplified chart choices.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093208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5800" y="514807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Time Intelligence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43400" y="514807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and cumulative measures needed strong DAX filter context.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000" y="51480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measures incrementally against known totals.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64240" cy="713232"/>
          </a:xfrm>
          <a:prstGeom prst="rect">
            <a:avLst/>
          </a:prstGeom>
          <a:solidFill>
            <a:srgbClr val="EEF1F7"/>
          </a:solidFill>
          <a:ln w="9525">
            <a:solidFill>
              <a:srgbClr val="E4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" y="586130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Threshold Calibration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586130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thresholds without excessive false positives.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01000" y="58613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95th-percentile amount rule, tuned against sample data.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evolve next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88336" cy="3931920"/>
          </a:xfrm>
          <a:prstGeom prst="roundRect">
            <a:avLst>
              <a:gd name="adj" fmla="val 2721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Sales &amp; Default Forecasting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predict future loan defaults and transaction risk trends.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88336" cy="3931920"/>
          </a:xfrm>
          <a:prstGeom prst="roundRect">
            <a:avLst>
              <a:gd name="adj" fmla="val 2721"/>
            </a:avLst>
          </a:prstGeom>
          <a:solidFill>
            <a:srgbClr val="0E9C8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30168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30168" y="26060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Risk Prediction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30168" y="3429000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 identifying at-risk borrowers and accounts before issues emerge.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783080"/>
            <a:ext cx="2688336" cy="3931920"/>
          </a:xfrm>
          <a:prstGeom prst="roundRect">
            <a:avLst>
              <a:gd name="adj" fmla="val 2721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83096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83096" y="26060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Dashboards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83096" y="3429000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dashboards to live data feeds for real-time loan and transaction monitoring.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07424" y="1783080"/>
            <a:ext cx="2688336" cy="3931920"/>
          </a:xfrm>
          <a:prstGeom prst="roundRect">
            <a:avLst>
              <a:gd name="adj" fmla="val 2721"/>
            </a:avLst>
          </a:prstGeom>
          <a:solidFill>
            <a:srgbClr val="0E9C8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336024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36024" y="26060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Fraud Alerts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336024" y="3429000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high-risk transaction scoring with automated notification workflows.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DELIVERED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realized through this analytics initiative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99339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8562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Data-Driven Decisions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replace manual reporting, giving stakeholders instant access to loan and transaction KPIs.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92240" y="199339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922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18562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1671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transaction flags and delinquency tracking surface problems before they escalate.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36392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3924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255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 Across Sources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56616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joins bring loan and transaction data together into one consistent, queryable model.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136392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92240" y="33924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922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3255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Branch Visibility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56616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branch and bank-level breakdowns highlight where lending demand and risk are concentrated.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535424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77240" y="479145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6542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Exploration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496519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Slicers, filters and drill-throughs let business users answer their own questions without new reports.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535424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92240" y="479145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922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40880" y="46542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Foundation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496519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Excel → MySQL → BI pipeline can absorb new data sources as the bank's footprint grows.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CONSTRAINTS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and constraints to keep in mind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99339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8562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 Snapshots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refresh on import rather than live feeds, so figures can lag real-world activity.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92240" y="199339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922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8562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Cleaning Effort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1671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formats and nulls in source files still require significant hands-on preprocessing.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36392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3924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255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Sensitivity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56616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flags depend on fixed percentile cut-offs, which can misclassify borderline transactions.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136392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92240" y="33924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922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255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56616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spread across Excel, MySQL, Tableau and Power BI, increasing maintenance overhead.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535424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77240" y="479145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6542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Predictive Power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496519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dashboards are descriptive; they do not yet forecast future defaults or fraud.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535424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92240" y="479145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9224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46542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Ceiling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496519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data volumes may require a more robust warehouse than the current MySQL setup.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502920" cy="4114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Complete:  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Extracted, cleaned, and modelled loan and transaction data through Excel and MySQL.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03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Built: 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0" y="22037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interactive Tableau and Power BI dashboards with filters, KPIs, and drill-downs.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807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Generated:  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49040" y="28072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key drivers: UP/Punjab lending demand, Home Loan volume, and balanced transaction channels.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410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 Established: 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49040" y="34107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high-risk transactions and default accounts for focused monitoring.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0142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Delivered:  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49040" y="4014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five strategic recommendations covering lending, risk, cross-sell, and collections.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B1E3D"/>
          </a:solidFill>
          <a:ln/>
          <a:effectLst>
            <a:outerShdw blurRad="127000" dist="38100" dir="5400000" algn="bl" rotWithShape="0">
              <a:srgbClr val="8C93A6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48920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shows how a disciplined Excel → MySQL → BI pipeline can convert raw banking records into a single, trustworthy view of lending performance and transaction risk — giving the business the clarity it needs to lend confidently, act early on risk, and grow the right products in the right regions.</a:t>
            </a:r>
            <a:endParaRPr lang="en-US" sz="1350" dirty="0"/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nk_analytics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02920"/>
            <a:ext cx="4160520" cy="5715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79792" y="320040"/>
            <a:ext cx="4480560" cy="5989320"/>
          </a:xfrm>
          <a:prstGeom prst="rect">
            <a:avLst/>
          </a:prstGeom>
          <a:solidFill>
            <a:srgbClr val="08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8778240" y="-2743200"/>
            <a:ext cx="7315200" cy="7315200"/>
          </a:xfrm>
          <a:prstGeom prst="ellipse">
            <a:avLst/>
          </a:prstGeom>
          <a:solidFill>
            <a:srgbClr val="0714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66960" y="-548640"/>
            <a:ext cx="3840480" cy="3840480"/>
          </a:xfrm>
          <a:prstGeom prst="ellipse">
            <a:avLst/>
          </a:prstGeom>
          <a:solidFill>
            <a:srgbClr val="0B7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377440" y="4846320"/>
            <a:ext cx="4937760" cy="4937760"/>
          </a:xfrm>
          <a:prstGeom prst="ellipse">
            <a:avLst/>
          </a:prstGeom>
          <a:solidFill>
            <a:srgbClr val="0714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&amp; Transaction Analytics Dashboard Project  |  August 2026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A89A20-3C8B-5DC8-1740-51354EE67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2843</Words>
  <Application>Microsoft Office PowerPoint</Application>
  <PresentationFormat>Widescreen</PresentationFormat>
  <Paragraphs>530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&amp; Credit–Debit Analytics</dc:title>
  <dc:subject>Student project presentation with SQL analysis</dc:subject>
  <dc:creator>Group – 2</dc:creator>
  <cp:lastModifiedBy>Dhivya lakshmi</cp:lastModifiedBy>
  <cp:revision>1</cp:revision>
  <dcterms:created xsi:type="dcterms:W3CDTF">2026-08-09T09:18:16Z</dcterms:created>
  <dcterms:modified xsi:type="dcterms:W3CDTF">2026-08-09T15:56:25Z</dcterms:modified>
</cp:coreProperties>
</file>